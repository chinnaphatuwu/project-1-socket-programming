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07951"/>
            <a:ext cx="1104900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8B2AC"/>
                </a:solidFill>
                <a:latin typeface="Sarabun SemiBold"/>
              </a:rPr>
              <a:t>Socket Programming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2199382"/>
            <a:ext cx="1160145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2D3748"/>
                </a:solidFill>
                <a:latin typeface="Poppins"/>
              </a:rPr>
              <a:t>QAP — Quiz Application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98403"/>
            <a:ext cx="110490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A5568"/>
                </a:solidFill>
                <a:latin typeface="Sarabun"/>
              </a:rPr>
              <a:t>การสื่อสารแบบ Stateful สำหรับแอปพลิเคชันควิซผ่าน TCP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4740324"/>
            <a:ext cx="1685925" cy="409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4740324"/>
            <a:ext cx="1876425" cy="409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0" y="26955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Application-Layer Protocol: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ออกแบบโปรโตคอลเฉพาะทางสำหรับระบบ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2500" y="31908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Multi-Client Support: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รองรับการเล่นผ่าน Web Browser และ Terminal พร้อมกัน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6861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Stateful Management: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ให้ Server จัดการ Session, ความคืบหน้า และคะแนนอย่างแม่นยำ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1814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Network Semantics: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แสดงการทำงานของ Network Message และ Status Code ที่เข้าใจง่าย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676775"/>
            <a:ext cx="10668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Advanced Features: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รองรับ Flag Fragment, Image Upload และ Concurrent Users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1500"/>
            <a:ext cx="114014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วัตถุประสงค์ของโครงงาน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76200" cy="628650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5575"/>
            <a:ext cx="228600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90875"/>
            <a:ext cx="22860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86175"/>
            <a:ext cx="228600" cy="2476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81475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76775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037"/>
            <a:ext cx="528637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205037"/>
            <a:ext cx="5286375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4875" y="2490787"/>
            <a:ext cx="49006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D3748"/>
                </a:solidFill>
                <a:latin typeface="Poppins"/>
              </a:rPr>
              <a:t>Core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0" y="2490787"/>
            <a:ext cx="49006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D3748"/>
                </a:solidFill>
                <a:latin typeface="Poppins"/>
              </a:rPr>
              <a:t>Network &amp; Execution Specs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5875" y="2947987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Client-Server Model: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แยกการทำงานส่วนระบบประมวลผลและผู้ใช้อย่างชัดเจน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5" y="3748087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Stateful Session: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จัดเก็บและติดตามสถานะผู้เล่นฝั่ง Server ตลอดเกม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" y="4548187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Multi-Client Support: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รองรับการเชื่อมต่อพร้อมกันทั้ง Web Browser และ Terminal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8500" y="2947987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Communication: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สื่อสารผ่าน TCP Socket Direct Connection Port 8080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3748087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Data Formats: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JSON Payload สำหรับข้อความ และ Base64 สำหรับไฟล์รูปภาพ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4548187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Concurrency: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ThreadPoolExecutor รองรับผู้ใช้งานสูงสุด 50 Workers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System Architecture &amp;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947987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3748087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4548187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2947987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3748087"/>
            <a:ext cx="2286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4548187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87947"/>
          <a:ext cx="11048999" cy="275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454128"/>
                <a:gridCol w="6594871"/>
              </a:tblGrid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ความต้องการของ Quiz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คุณสมบัติของ TCP (Transmission Control Protocol)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คำถามและคำตอบต้องมาถึงครบถ้วน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Reliable Delivery:</a:t>
                      </a:r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 มีระบบตรวจสอบความถูกต้อง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ต้องอ่านข้อความตามลำดับที่ส่งมา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Ordered Byte Stream:</a:t>
                      </a:r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 ลำดับข้อมูลถูกต้องเสมอ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ต้องมีการรักษา Session ต่อเนื่อง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Connection-oriented:</a:t>
                      </a:r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 รักษาทางเดินข้อมูลระหว่างเล่น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ลดการเปิด/ปิด Connection บ่อยครั้ง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Persistent / Keep-alive:</a:t>
                      </a:r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 ลด Overhead ในการทำ Handshake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1500" y="5426422"/>
            <a:ext cx="110490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718096"/>
                </a:solidFill>
                <a:latin typeface="Sarabun"/>
              </a:rPr>
              <a:t>หากใช้ UDP จะต้องเขียนระบบ Acknowledgement, Retransmission และ Sequence Number ขึ้นมาเองทั้งหมด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526184"/>
            <a:ext cx="4454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5628" y="3526184"/>
            <a:ext cx="6594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4059584"/>
            <a:ext cx="4454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5628" y="4059584"/>
            <a:ext cx="6594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4592984"/>
            <a:ext cx="4454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5628" y="4592984"/>
            <a:ext cx="6594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5126384"/>
            <a:ext cx="44541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5628" y="5126384"/>
            <a:ext cx="6594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4014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ทำไมเลือกใช้ TCP?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71500"/>
            <a:ext cx="76200" cy="628650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3994"/>
            <a:ext cx="5286375" cy="24909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978794"/>
            <a:ext cx="548729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F6AD55"/>
                </a:solidFill>
                <a:latin typeface="Courier New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405336"/>
            <a:ext cx="100607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F6AD55"/>
                </a:solidFill>
                <a:latin typeface="Courier New"/>
              </a:rPr>
              <a:t>X-Protocol: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618607"/>
            <a:ext cx="11889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F6AD55"/>
                </a:solidFill>
                <a:latin typeface="Courier New"/>
              </a:rPr>
              <a:t>X-Session-ID: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159" y="4471689"/>
            <a:ext cx="1006078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68D391"/>
                </a:solidFill>
                <a:latin typeface="Courier New"/>
              </a:rPr>
              <a:t>"answer_id"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15125" y="2673994"/>
            <a:ext cx="490537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Compatible Framing: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ใช้รูปแบบ HTTP/1.1 เพื่อให้ Browser สื่อสารได้ง่าย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5125" y="3474094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X-Protocol Header: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ระบุการใช้งาน Protocol QAP โดยเฉพาะ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3969394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Session Tracking: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ใช้ Custom Header สำหรับติดตามผู้เล่น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4464694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Strict Termination: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ส่วน Header จบด้วย \r\n\r\n เสมอ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QAP Message Format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673994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474094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969394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4464694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95537"/>
          <a:ext cx="11048998" cy="275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73001"/>
                <a:gridCol w="2955428"/>
                <a:gridCol w="6220569"/>
              </a:tblGrid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Endpoint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หน้าที่หลัก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START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/api/start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สร้าง Session และทำ Snapshot ข้อมูลคำถาม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GET_Q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/api/question/{id}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ขอข้อมูลคำถาม (ไม่ส่งเฉลยใน Payload)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ANSWER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/api/answer/{id}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ส่งคำตอบเพื่อตรวจและเก็บคะแนน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5054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/api/score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สรุปผลคะแนนเมื่อตอบครบทุกข้อ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71500" y="5434012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8BB78"/>
                </a:solidFill>
                <a:latin typeface="Sarabun"/>
              </a:rPr>
              <a:t>200 OK</a:t>
            </a:r>
            <a:r>
              <a:rPr b="0" sz="1200" i="0" u="none">
                <a:solidFill>
                  <a:srgbClr val="000000"/>
                </a:solidFill>
                <a:latin typeface="Sarabun"/>
              </a:rPr>
              <a:t> </a:t>
            </a:r>
            <a:r>
              <a:rPr b="1" sz="1200" i="0" u="none">
                <a:solidFill>
                  <a:srgbClr val="ECC94B"/>
                </a:solidFill>
                <a:latin typeface="Sarabun"/>
              </a:rPr>
              <a:t>401 SESSION_REQUIRED</a:t>
            </a:r>
            <a:r>
              <a:rPr b="0" sz="1200" i="0" u="none">
                <a:solidFill>
                  <a:srgbClr val="000000"/>
                </a:solidFill>
                <a:latin typeface="Sarabun"/>
              </a:rPr>
              <a:t> </a:t>
            </a:r>
            <a:r>
              <a:rPr b="1" sz="1200" i="0" u="none">
                <a:solidFill>
                  <a:srgbClr val="F56565"/>
                </a:solidFill>
                <a:latin typeface="Sarabun"/>
              </a:rPr>
              <a:t>409 CONFLICT (ตอบซ้ำ)</a:t>
            </a:r>
            <a:r>
              <a:rPr b="0" sz="1200" i="0" u="none">
                <a:solidFill>
                  <a:srgbClr val="000000"/>
                </a:solidFill>
                <a:latin typeface="Sarabun"/>
              </a:rPr>
              <a:t> </a:t>
            </a:r>
            <a:r>
              <a:rPr b="1" sz="1200" i="0" u="none">
                <a:solidFill>
                  <a:srgbClr val="ED8936"/>
                </a:solidFill>
                <a:latin typeface="Sarabun"/>
              </a:rPr>
              <a:t>422 INCOMPLETE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3533775"/>
            <a:ext cx="18730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4501" y="3533775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99930" y="3533775"/>
            <a:ext cx="62205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067175"/>
            <a:ext cx="18730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44501" y="4067175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9930" y="4067175"/>
            <a:ext cx="62205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4600575"/>
            <a:ext cx="18730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44501" y="4600575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399930" y="4600575"/>
            <a:ext cx="62205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5133975"/>
            <a:ext cx="187300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44501" y="5133975"/>
            <a:ext cx="29554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9930" y="5133975"/>
            <a:ext cx="62205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QAP Methods &amp; Status Codes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20517"/>
            <a:ext cx="11049000" cy="6247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270" y="2974776"/>
            <a:ext cx="419100" cy="419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285" y="2974776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6301" y="2974776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1316" y="2974776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331" y="2974776"/>
            <a:ext cx="419100" cy="419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71500" y="3397597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" y="4811017"/>
            <a:ext cx="106203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A5568"/>
                </a:solidFill>
                <a:latin typeface="Sarabun"/>
              </a:rPr>
              <a:t>Security Note:</a:t>
            </a:r>
            <a:r>
              <a:rPr b="0" sz="1200" i="0" u="none">
                <a:solidFill>
                  <a:srgbClr val="4A5568"/>
                </a:solidFill>
                <a:latin typeface="Sarabun"/>
              </a:rPr>
              <a:t> Client ไม่สามารถส่งคะแนนปลอมได้ เพราะ Server เป็นผู้ถือครองสถานะ (State) และการคำนวณคะแนนทั้งหมด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780" y="3584376"/>
            <a:ext cx="2088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0000"/>
                </a:solidFill>
                <a:latin typeface="Sarabun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3812976"/>
            <a:ext cx="198879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A5568"/>
                </a:solidFill>
                <a:latin typeface="Sarabun"/>
              </a:rPr>
              <a:t>สร้าง X-Session-ID และ Snapshot เกม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6795" y="3584376"/>
            <a:ext cx="2088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0000"/>
                </a:solidFill>
                <a:latin typeface="Sarabun"/>
              </a:rPr>
              <a:t>GET_Q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6515" y="3812976"/>
            <a:ext cx="198879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A5568"/>
                </a:solidFill>
                <a:latin typeface="Sarabun"/>
              </a:rPr>
              <a:t>ขอคำถามทีละข้อ ข้อมูลเฉลยไม่รั่วไหล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1810" y="3584376"/>
            <a:ext cx="2088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0000"/>
                </a:solidFill>
                <a:latin typeface="Sarabun"/>
              </a:rPr>
              <a:t>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1530" y="3812976"/>
            <a:ext cx="198879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A5568"/>
                </a:solidFill>
                <a:latin typeface="Sarabun"/>
              </a:rPr>
              <a:t>ตอบและตรวจที่ Server ทันที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6825" y="3584376"/>
            <a:ext cx="2088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0000"/>
                </a:solidFill>
                <a:latin typeface="Sarabun"/>
              </a:rPr>
              <a:t>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545" y="3812976"/>
            <a:ext cx="198879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A5568"/>
                </a:solidFill>
                <a:latin typeface="Sarabun"/>
              </a:rPr>
              <a:t>คำนวณผลลัพธ์จาก Session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1841" y="3584376"/>
            <a:ext cx="208822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000000"/>
                </a:solidFill>
                <a:latin typeface="Sarabun"/>
              </a:rPr>
              <a:t>FINISH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560" y="3812976"/>
            <a:ext cx="198879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b="0" sz="1050" i="0" u="none">
                <a:solidFill>
                  <a:srgbClr val="4A5568"/>
                </a:solidFill>
                <a:latin typeface="Sarabun"/>
              </a:rPr>
              <a:t>ปลดปล่อย Fragment ลับหากชนะ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Stateful Session &amp; Server-Side 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25191"/>
            <a:ext cx="3524250" cy="23886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725191"/>
            <a:ext cx="3524250" cy="23886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725191"/>
            <a:ext cx="3524250" cy="2388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3431" y="3649116"/>
            <a:ext cx="31003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D3748"/>
                </a:solidFill>
                <a:latin typeface="Poppins"/>
              </a:rPr>
              <a:t>Fragment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058691"/>
            <a:ext cx="29527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Server แบ่ง Flag ลับเป็นส่วนๆ ตามจำนวนข้อ ตอบถูก 1 ข้อ ได้รับ 1 Fragment ใน 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45806" y="3649116"/>
            <a:ext cx="31003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D3748"/>
                </a:solidFill>
                <a:latin typeface="Poppins"/>
              </a:rPr>
              <a:t>Index Ordering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4058691"/>
            <a:ext cx="295275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ใช้ X-Flag-Fragment-Index เพื่อระบุตำแหน่งที่ถูกต้อง ป้องกันปัญหาลำดับ Packet ของเครือข่าย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8181" y="3649116"/>
            <a:ext cx="31003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D3748"/>
                </a:solidFill>
                <a:latin typeface="Poppins"/>
              </a:rPr>
              <a:t>Secret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4058691"/>
            <a:ext cx="29527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เมื่อรวม Fragment ครบ จะได้รหัสผ่านหรือ Path ลับเพื่อใช้เปิดหน้าเฉลยพิเศษ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087141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1687" y="3087141"/>
            <a:ext cx="4286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875" y="3087141"/>
            <a:ext cx="381000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Flag Fragment Chaining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71725"/>
          <a:ext cx="11048999" cy="328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422552"/>
                <a:gridCol w="5626447"/>
              </a:tblGrid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พฤติกรรม / การทดลอง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สถานะการตอบกลับจาก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เข้าถึง API โดยไม่มี X-Session-ID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56565"/>
                          </a:solidFill>
                          <a:latin typeface="Sarabun"/>
                        </a:rPr>
                        <a:t>401 SESSION_REQUIRED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พยายามตอบคำถามเดิมซ้ำเป็นครั้งที่สอง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ED8936"/>
                          </a:solidFill>
                          <a:latin typeface="Sarabun"/>
                        </a:rPr>
                        <a:t>409 CONFLICT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ขอสรุปคะแนน (SCORE) ทั้งที่ยังตอบไม่ครบ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ECC94B"/>
                          </a:solidFill>
                          <a:latin typeface="Sarabun"/>
                        </a:rPr>
                        <a:t>422 INCOMPLETE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ส่งคะแนนปลอม 999 มาให้ Server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Server ไม่นำมาใช้</a:t>
                      </a:r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 (คำนวณใหม่จาก History)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4769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Upload รูปขนาด 10 MiB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F56565"/>
                          </a:solidFill>
                          <a:latin typeface="Sarabun"/>
                        </a:rPr>
                        <a:t>413 PAYLOAD_TOO_LARGE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509962"/>
            <a:ext cx="5422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94052" y="3509962"/>
            <a:ext cx="562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43362"/>
            <a:ext cx="5422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94052" y="4043362"/>
            <a:ext cx="562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576762"/>
            <a:ext cx="5422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94052" y="4576762"/>
            <a:ext cx="562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110162"/>
            <a:ext cx="5422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94052" y="5110162"/>
            <a:ext cx="562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5643562"/>
            <a:ext cx="542255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4052" y="5643562"/>
            <a:ext cx="56264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Error Cases &amp; Anti-Cheat Logic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71725"/>
          <a:ext cx="11048999" cy="3286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05807"/>
                <a:gridCol w="7443192"/>
              </a:tblGrid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Function / Module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Poppins"/>
                        </a:rPr>
                        <a:t>ความรับผิดชอบ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start_session()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สร้าง Session ID ใหม่ และทำ Snapshot รายการคำถาม ณ เวลานั้น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handle_api_request()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Routing API ไปยังฟังก์ชันจัดการที่เหมาะสม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parse_request()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อ่าน Header และดึง Body ตามค่า Content-Length ที่ระบุ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7687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assembled_flag()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(Client-side) เรียงลำดับและรวม Fragment ทั้งหมดที่ได้รับ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47690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handle_client()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00000"/>
                          </a:solidFill>
                          <a:latin typeface="Sarabun"/>
                        </a:rPr>
                        <a:t>จัดการ Persistent Connection และ Multi-threading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509962"/>
            <a:ext cx="3605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77307" y="3509962"/>
            <a:ext cx="7443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43362"/>
            <a:ext cx="3605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77307" y="4043362"/>
            <a:ext cx="7443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4576762"/>
            <a:ext cx="3605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77307" y="4576762"/>
            <a:ext cx="7443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5110162"/>
            <a:ext cx="3605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7307" y="5110162"/>
            <a:ext cx="7443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5643562"/>
            <a:ext cx="36058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77307" y="5643562"/>
            <a:ext cx="74431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Source Code Core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9812"/>
            <a:ext cx="5286375" cy="3219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309812"/>
            <a:ext cx="5286375" cy="3219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4652962"/>
            <a:ext cx="4667250" cy="590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75" y="2595562"/>
            <a:ext cx="49006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D3748"/>
                </a:solidFill>
                <a:latin typeface="Poppins"/>
              </a:rPr>
              <a:t>Upload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595562"/>
            <a:ext cx="4900612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2D3748"/>
                </a:solidFill>
                <a:latin typeface="Poppins"/>
              </a:rPr>
              <a:t>Server Processing &amp;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5875" y="3052762"/>
            <a:ext cx="4286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Supported Formats: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รองรับ PNG, JPEG และ GIF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5875" y="3548062"/>
            <a:ext cx="42862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Size Limit: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จำกัดขนาดไฟล์ไม่เกิน 5 MiB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875" y="4043362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Base64 Encoding: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แปลงภาพเป็นข้อความ เพื่อส่งใน JSON Payload เดียวกัน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0" y="3052762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Validation: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ตรวจสอบ MIME Type และ Magic Bytes ป้องกันไฟล์อันตราย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0" y="3852862"/>
            <a:ext cx="42862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Storage: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บันทึกลง Disk แบบ Atomic Save พร้อมตั้งชื่อไฟล์อัตโนมัติ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CREATE &amp; Image Upload Protocol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3052762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3548062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875" y="4043362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3052762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0" y="3852862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82379"/>
            <a:ext cx="5286375" cy="16743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3082379"/>
            <a:ext cx="5286375" cy="16743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3450" y="3368129"/>
            <a:ext cx="4870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2B6CB0"/>
                </a:solidFill>
                <a:latin typeface="Sarabun"/>
              </a:rPr>
              <a:t>การจัดการข้อมูลคำถาม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3739604"/>
            <a:ext cx="46386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ระบบรองรับการ </a:t>
            </a:r>
            <a:r>
              <a:rPr b="1" sz="1200" i="0" u="none">
                <a:solidFill>
                  <a:srgbClr val="4A5568"/>
                </a:solidFill>
                <a:latin typeface="Sarabun"/>
              </a:rPr>
              <a:t>LIST</a:t>
            </a:r>
            <a:r>
              <a:rPr b="0" sz="1200" i="0" u="none">
                <a:solidFill>
                  <a:srgbClr val="4A5568"/>
                </a:solidFill>
                <a:latin typeface="Sarabun"/>
              </a:rPr>
              <a:t> (ดูทั้งหมด) และ </a:t>
            </a:r>
            <a:r>
              <a:rPr b="1" sz="1200" i="0" u="none">
                <a:solidFill>
                  <a:srgbClr val="4A5568"/>
                </a:solidFill>
                <a:latin typeface="Sarabun"/>
              </a:rPr>
              <a:t>DELETE</a:t>
            </a:r>
            <a:r>
              <a:rPr b="0" sz="1200" i="0" u="none">
                <a:solidFill>
                  <a:srgbClr val="4A5568"/>
                </a:solidFill>
                <a:latin typeface="Sarabun"/>
              </a:rPr>
              <a:t> คำถามแบบเรียลไทม์ แต่มีการป้องกันไม่ให้ลบจนหมด (ลบข้อสุดท้ายไม่ได้)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6075" y="3368129"/>
            <a:ext cx="4870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2F855A"/>
                </a:solidFill>
                <a:latin typeface="Sarabun"/>
              </a:rPr>
              <a:t>แนวคิด Session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96075" y="3739604"/>
            <a:ext cx="4638675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เมื่อเริ่มเล่น (START) ระบบจะล็อครายการคำถามไว้สำหรับ Session นั้นๆ แม้ Admin จะลบหรือเพิ่มคำถามระหว่างที่ผู้เล่นกำลังทำควิซ จะไม่ส่งผลต่อเกมที่กำลังดำเนินอยู่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Catalog &amp; Session Snapshots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2575"/>
            <a:ext cx="11049000" cy="47339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3833812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ทำไมถึงเร็วขึ้น?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3833812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4A5568"/>
                </a:solidFill>
                <a:latin typeface="Sarabun"/>
              </a:rPr>
              <a:t>ตัวอย่าง 1 เกม (5 ข้อ):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138612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ไม่ต้องทำ TCP Handshake (SYN-ACK) ทุก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633912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ลด Overhead ของระบบเครือข่าย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5129212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ใช้ Content-Length ในการแบ่ง Message บน 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4138612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START (1) + GET_Q (5) + ANSWER (5) + SCORE (1)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7500" y="4633912"/>
            <a:ext cx="4953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รวม 12 Requests บนการเชื่อมต่อเดียว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Persistent Connection Efficiency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138612"/>
            <a:ext cx="228600" cy="247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33912"/>
            <a:ext cx="22860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129212"/>
            <a:ext cx="22860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138612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633912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2316"/>
            <a:ext cx="3524250" cy="21449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82316"/>
            <a:ext cx="3524250" cy="21449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582316"/>
            <a:ext cx="3524250" cy="21449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5012977"/>
            <a:ext cx="110490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monospace"/>
              </a:rPr>
              <a:t>python stress_test.py --clients 10 25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3431" y="3506241"/>
            <a:ext cx="31003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D3748"/>
                </a:solidFill>
                <a:latin typeface="Poppins"/>
              </a:rPr>
              <a:t>50 Workers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15816"/>
            <a:ext cx="29527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ใช้ ThreadPoolExecutor รองรับการร้องขอที่เข้ามาพร้อมกันอย่างมีประสิทธิภาพ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806" y="3506241"/>
            <a:ext cx="31003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D3748"/>
                </a:solidFill>
                <a:latin typeface="Poppins"/>
              </a:rPr>
              <a:t>Latency P95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915816"/>
            <a:ext cx="29527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วัดผลความหน่วงเพื่อตรวจสอบความเสถียรภายใต้ภาระงานสูง (Stress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8181" y="3506241"/>
            <a:ext cx="3100387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2D3748"/>
                </a:solidFill>
                <a:latin typeface="Poppins"/>
              </a:rPr>
              <a:t>Session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915816"/>
            <a:ext cx="295275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4A5568"/>
                </a:solidFill>
                <a:latin typeface="Sarabun"/>
              </a:rPr>
              <a:t>ใช้ Lock แยกตาม Session ป้องกันสภาวะการแย่งชิงข้อมูล (Race Condition)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0" y="2944266"/>
            <a:ext cx="47625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0" y="2944266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1687" y="2944266"/>
            <a:ext cx="333375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71500"/>
            <a:ext cx="114014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Concurrent Load Test Performance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571500"/>
            <a:ext cx="76200" cy="600075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4863405"/>
            <a:ext cx="11601450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600" i="0" u="none">
                <a:solidFill>
                  <a:srgbClr val="2D3748"/>
                </a:solidFill>
                <a:latin typeface="Poppins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56795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Thank you for your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005905"/>
            <a:ext cx="528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38B2AC"/>
                </a:solidFill>
                <a:latin typeface="Sarabun"/>
              </a:rPr>
              <a:t>ความสำเร็จของโครงงาน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005905"/>
            <a:ext cx="5286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E53E3E"/>
                </a:solidFill>
                <a:latin typeface="Sarabun"/>
              </a:rPr>
              <a:t>ข้อจำกัดและงานในอนาคต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4059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โปรโตคอล QAP ทำงานได้สมบูรณ์แบบบน TCP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29012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จัดการ Stateful Session และ Score ได้อย่างแม่นยำ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3965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รองรับ Image Upload และการจัดการคำถาม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8918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ระบบมีความทนทานต่อการรบกวนข้อมูล (Anti-Cheat)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5125" y="24059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เพิ่มการเข้ารหัสข้อมูลด้วย </a:t>
            </a:r>
            <a:r>
              <a:rPr b="1" sz="1500" i="0" u="none">
                <a:solidFill>
                  <a:srgbClr val="4A5568"/>
                </a:solidFill>
                <a:latin typeface="Sarabun"/>
              </a:rPr>
              <a:t>TLS/SSL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5125" y="29012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นำ </a:t>
            </a:r>
            <a:r>
              <a:rPr b="1" sz="1500" i="0" u="none">
                <a:solidFill>
                  <a:srgbClr val="4A5568"/>
                </a:solidFill>
                <a:latin typeface="Sarabun"/>
              </a:rPr>
              <a:t>Persistent DB</a:t>
            </a:r>
            <a:r>
              <a:rPr b="0" sz="1500" i="0" u="none">
                <a:solidFill>
                  <a:srgbClr val="4A5568"/>
                </a:solidFill>
                <a:latin typeface="Sarabun"/>
              </a:rPr>
              <a:t> มาใช้แทน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33965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เพิ่มระบบ </a:t>
            </a:r>
            <a:r>
              <a:rPr b="1" sz="1500" i="0" u="none">
                <a:solidFill>
                  <a:srgbClr val="4A5568"/>
                </a:solidFill>
                <a:latin typeface="Sarabun"/>
              </a:rPr>
              <a:t>Authentication / Rate Limiting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891855"/>
            <a:ext cx="49053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A5568"/>
                </a:solidFill>
                <a:latin typeface="Sarabun"/>
              </a:rPr>
              <a:t>ขยายผลสู่ระบบ Quiz แบบเรียลไทม์ (Websocket)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"/>
            <a:ext cx="1140142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150" i="0" u="none">
                <a:solidFill>
                  <a:srgbClr val="2D3748"/>
                </a:solidFill>
                <a:latin typeface="Poppins"/>
              </a:rPr>
              <a:t>สรุปและข้อจำกัดของระบบ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76200" cy="628650"/>
          </a:xfrm>
          <a:prstGeom prst="rect">
            <a:avLst/>
          </a:prstGeom>
          <a:solidFill>
            <a:srgbClr val="38B2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5955"/>
            <a:ext cx="22860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1255"/>
            <a:ext cx="22860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96555"/>
            <a:ext cx="228600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91855"/>
            <a:ext cx="228600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405955"/>
            <a:ext cx="228600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901255"/>
            <a:ext cx="22860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396555"/>
            <a:ext cx="228600" cy="2476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891855"/>
            <a:ext cx="228600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